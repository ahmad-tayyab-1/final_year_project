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5" r:id="rId6"/>
    <p:sldId id="266" r:id="rId7"/>
    <p:sldId id="267" r:id="rId8"/>
    <p:sldId id="268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A589EE-0DB3-472C-BBA7-2449DDB8A4BE}">
          <p14:sldIdLst>
            <p14:sldId id="256"/>
            <p14:sldId id="265"/>
            <p14:sldId id="266"/>
            <p14:sldId id="267"/>
            <p14:sldId id="268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0" autoAdjust="0"/>
  </p:normalViewPr>
  <p:slideViewPr>
    <p:cSldViewPr>
      <p:cViewPr varScale="1">
        <p:scale>
          <a:sx n="80" d="100"/>
          <a:sy n="80" d="100"/>
        </p:scale>
        <p:origin x="662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12/12/2024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12/12/2024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businessanalytics.techtarget.com/definition/natural-language-processing-NLP" TargetMode="External"/><Relationship Id="rId2" Type="http://schemas.openxmlformats.org/officeDocument/2006/relationships/hyperlink" Target="https://searchenterpriseai.techtarget.com/definition/natural-language-understanding-NL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hatis.techtarget.com/definition/search-engin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Stem or Lemmatize Words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Python Practical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Stemming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rocess of reducing a word to its word stem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mportant in natural language understanding (</a:t>
            </a:r>
            <a:r>
              <a:rPr lang="en-US" sz="2400" b="0" i="0" u="sng" dirty="0"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NLU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natural language processing (</a:t>
            </a:r>
            <a:r>
              <a:rPr lang="en-US" sz="2400" b="0" i="0" u="sng" dirty="0"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NLP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Stemming is also a part of queries and Internet </a:t>
            </a:r>
            <a:r>
              <a:rPr lang="en-US" sz="2400" b="0" i="0" u="sng" dirty="0"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engines</a:t>
            </a:r>
            <a:endParaRPr lang="en-US" sz="2400" b="0" i="0" u="sng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Example: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Words = Used, User, Using, Usable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Stem = USE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15B7-1822-4E47-B850-764FCBAA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Stemming and 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D7151-6DC7-4C1D-AA2E-57DB30E67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chemeClr val="tx1"/>
                </a:solidFill>
                <a:effectLst/>
                <a:latin typeface="Lora" panose="020B0604020202020204" pitchFamily="2" charset="0"/>
              </a:rPr>
              <a:t>Stemming and Lemmatization are </a:t>
            </a:r>
            <a:r>
              <a:rPr lang="en-US" b="1" i="0" dirty="0">
                <a:solidFill>
                  <a:schemeClr val="tx1"/>
                </a:solidFill>
                <a:effectLst/>
                <a:latin typeface="Lora" panose="020B0604020202020204" pitchFamily="2" charset="0"/>
              </a:rPr>
              <a:t>Text Normalization/Word Normalization</a:t>
            </a:r>
          </a:p>
          <a:p>
            <a:r>
              <a:rPr lang="en-US" b="1" dirty="0">
                <a:solidFill>
                  <a:schemeClr val="tx1"/>
                </a:solidFill>
                <a:latin typeface="Lora" panose="020B0604020202020204" pitchFamily="2" charset="0"/>
              </a:rPr>
              <a:t>Used in </a:t>
            </a:r>
            <a:r>
              <a:rPr lang="en-US" b="1" i="0" dirty="0">
                <a:solidFill>
                  <a:schemeClr val="tx1"/>
                </a:solidFill>
                <a:effectLst/>
                <a:latin typeface="Lora" pitchFamily="2" charset="0"/>
              </a:rPr>
              <a:t>Natural Language Processing</a:t>
            </a:r>
            <a:r>
              <a:rPr lang="en-US" b="0" i="0" dirty="0">
                <a:solidFill>
                  <a:schemeClr val="tx1"/>
                </a:solidFill>
                <a:effectLst/>
                <a:latin typeface="Lora" pitchFamily="2" charset="0"/>
              </a:rPr>
              <a:t> that are used to prepare text, words, and documents for further processing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41BFA-D5A2-475B-BDE6-56B4D2C7C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962401"/>
            <a:ext cx="4639887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8B4842-D460-40B5-B78A-9AF3E2E8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132" y="3962400"/>
            <a:ext cx="36099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33C0-BB4E-4ABA-86E7-1754016A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 it in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3F251-51D9-44DD-9861-22FF9BE1F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/>
              <a:t>NLTK [Natural Language Tool Kit]</a:t>
            </a:r>
          </a:p>
          <a:p>
            <a:r>
              <a:rPr lang="en-US" b="1" dirty="0"/>
              <a:t>Steps:</a:t>
            </a:r>
          </a:p>
          <a:p>
            <a:pPr lvl="1"/>
            <a:r>
              <a:rPr lang="en-US" b="1" dirty="0"/>
              <a:t>Download and Install NLTK</a:t>
            </a:r>
          </a:p>
          <a:p>
            <a:pPr lvl="1"/>
            <a:r>
              <a:rPr lang="en-US" b="1" dirty="0"/>
              <a:t>Stemming Words using </a:t>
            </a:r>
            <a:r>
              <a:rPr lang="en-US" b="1" dirty="0">
                <a:solidFill>
                  <a:schemeClr val="accent5"/>
                </a:solidFill>
              </a:rPr>
              <a:t>PorterStemmer</a:t>
            </a:r>
            <a:r>
              <a:rPr lang="en-US" b="1" dirty="0"/>
              <a:t> and </a:t>
            </a:r>
            <a:r>
              <a:rPr lang="en-US" b="1" dirty="0">
                <a:solidFill>
                  <a:schemeClr val="accent5"/>
                </a:solidFill>
              </a:rPr>
              <a:t>LancasterStemmer</a:t>
            </a:r>
          </a:p>
          <a:p>
            <a:pPr lvl="1"/>
            <a:r>
              <a:rPr lang="en-US" b="1" dirty="0"/>
              <a:t>Stemming Sentences (with TOKENIZATION)</a:t>
            </a:r>
          </a:p>
          <a:p>
            <a:pPr lvl="1"/>
            <a:r>
              <a:rPr lang="en-US" b="1" dirty="0"/>
              <a:t>Stemming Documents</a:t>
            </a:r>
          </a:p>
        </p:txBody>
      </p:sp>
    </p:spTree>
    <p:extLst>
      <p:ext uri="{BB962C8B-B14F-4D97-AF65-F5344CB8AC3E}">
        <p14:creationId xmlns:p14="http://schemas.microsoft.com/office/powerpoint/2010/main" val="133168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CF9D-CE26-4CCD-82F5-8257FD47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1-Download and Install NLTK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B9378-4C91-4458-8D37-54C604BC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NLTK stands for Natural Language Toolkit</a:t>
            </a:r>
          </a:p>
          <a:p>
            <a:r>
              <a:rPr lang="en-US" dirty="0"/>
              <a:t>This is a suite of libraries and programs for statistical natural language processing for English written in Python</a:t>
            </a:r>
          </a:p>
          <a:p>
            <a:pPr lvl="1"/>
            <a:r>
              <a:rPr lang="en-US" dirty="0"/>
              <a:t>Open command prompt as Administrator</a:t>
            </a:r>
          </a:p>
          <a:p>
            <a:pPr lvl="1"/>
            <a:r>
              <a:rPr lang="en-US" dirty="0"/>
              <a:t>Use command </a:t>
            </a:r>
            <a:r>
              <a:rPr lang="en-US" b="1" dirty="0">
                <a:solidFill>
                  <a:srgbClr val="FF0000"/>
                </a:solidFill>
              </a:rPr>
              <a:t>pip install NLTK </a:t>
            </a:r>
            <a:r>
              <a:rPr lang="en-US" dirty="0"/>
              <a:t>in command prompt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34B9B-E2AA-4D41-833C-A1ED5C5F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856759"/>
            <a:ext cx="5410200" cy="277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8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B7DC-C164-453E-85D5-10550EE0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1-Download and Install NLTK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360890-51DE-4134-BB76-27F45AA10E9C}"/>
              </a:ext>
            </a:extLst>
          </p:cNvPr>
          <p:cNvSpPr txBox="1">
            <a:spLocks/>
          </p:cNvSpPr>
          <p:nvPr/>
        </p:nvSpPr>
        <p:spPr>
          <a:xfrm>
            <a:off x="1534356" y="5257799"/>
            <a:ext cx="6362699" cy="70651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Use: </a:t>
            </a:r>
            <a:r>
              <a:rPr lang="en-US" b="1" dirty="0" err="1">
                <a:solidFill>
                  <a:srgbClr val="FF0000"/>
                </a:solidFill>
              </a:rPr>
              <a:t>nltk.download</a:t>
            </a:r>
            <a:r>
              <a:rPr lang="en-US" b="1" dirty="0">
                <a:solidFill>
                  <a:srgbClr val="FF0000"/>
                </a:solidFill>
              </a:rPr>
              <a:t>() </a:t>
            </a:r>
            <a:r>
              <a:rPr lang="en-US" b="1" dirty="0">
                <a:solidFill>
                  <a:schemeClr val="tx1"/>
                </a:solidFill>
              </a:rPr>
              <a:t>in Python Shell</a:t>
            </a:r>
          </a:p>
          <a:p>
            <a:r>
              <a:rPr lang="en-US" b="1" dirty="0">
                <a:solidFill>
                  <a:schemeClr val="tx1"/>
                </a:solidFill>
              </a:rPr>
              <a:t>Use the downloader to download packages, corpora,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23F577-A954-4F78-87E9-793EBE4DB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76412"/>
            <a:ext cx="3962400" cy="3311237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03F62B-6A52-4928-A544-7454B4488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750519"/>
            <a:ext cx="6362700" cy="2790825"/>
          </a:xfrm>
        </p:spPr>
      </p:pic>
    </p:spTree>
    <p:extLst>
      <p:ext uri="{BB962C8B-B14F-4D97-AF65-F5344CB8AC3E}">
        <p14:creationId xmlns:p14="http://schemas.microsoft.com/office/powerpoint/2010/main" val="423287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1B63F-7E74-49E7-AA8F-0552E346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2-Stemming Words using PorterStemmer and LancasterStemmer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D86DF-6B3B-4CDC-A490-E4B8C846F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752600"/>
            <a:ext cx="9144000" cy="4648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i="1" dirty="0">
                <a:solidFill>
                  <a:schemeClr val="tx1"/>
                </a:solidFill>
                <a:effectLst/>
                <a:latin typeface="Lora" pitchFamily="2" charset="0"/>
              </a:rPr>
              <a:t>PorterStemmer</a:t>
            </a:r>
            <a:r>
              <a:rPr lang="en-US" b="0" i="0" dirty="0">
                <a:solidFill>
                  <a:schemeClr val="tx1"/>
                </a:solidFill>
                <a:effectLst/>
                <a:latin typeface="Lora" pitchFamily="2" charset="0"/>
              </a:rPr>
              <a:t> uses </a:t>
            </a:r>
            <a:r>
              <a:rPr lang="en-US" b="1" i="0" dirty="0">
                <a:solidFill>
                  <a:schemeClr val="tx1"/>
                </a:solidFill>
                <a:effectLst/>
                <a:latin typeface="Lora" pitchFamily="2" charset="0"/>
              </a:rPr>
              <a:t>Suffix Stripping</a:t>
            </a:r>
            <a:r>
              <a:rPr lang="en-US" b="0" i="0" dirty="0">
                <a:solidFill>
                  <a:schemeClr val="tx1"/>
                </a:solidFill>
                <a:effectLst/>
                <a:latin typeface="Lora" pitchFamily="2" charset="0"/>
              </a:rPr>
              <a:t> to produce stems. Notice how the PorterStemmer is giving the root (stem) of the word "cats" by simply removing the 's' after cat.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Lora" pitchFamily="2" charset="0"/>
              </a:rPr>
              <a:t>Simple and Speedy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Lora" pitchFamily="2" charset="0"/>
              </a:rPr>
              <a:t>The </a:t>
            </a:r>
            <a:r>
              <a:rPr lang="en-US" b="1" dirty="0">
                <a:solidFill>
                  <a:schemeClr val="tx1"/>
                </a:solidFill>
                <a:latin typeface="Lora" pitchFamily="2" charset="0"/>
              </a:rPr>
              <a:t>LancasterStemmer</a:t>
            </a:r>
            <a:r>
              <a:rPr lang="en-US" dirty="0">
                <a:solidFill>
                  <a:schemeClr val="tx1"/>
                </a:solidFill>
                <a:latin typeface="Lora" pitchFamily="2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Lora" pitchFamily="2" charset="0"/>
              </a:rPr>
              <a:t>Paice</a:t>
            </a:r>
            <a:r>
              <a:rPr lang="en-US" dirty="0">
                <a:solidFill>
                  <a:schemeClr val="tx1"/>
                </a:solidFill>
                <a:latin typeface="Lora" pitchFamily="2" charset="0"/>
              </a:rPr>
              <a:t>-Husk stemmer) is an iterative algorithm with rules saved externally</a:t>
            </a:r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Lora" pitchFamily="2" charset="0"/>
              </a:rPr>
              <a:t>One table containing about 120 rules indexed by the last letter of a suffix</a:t>
            </a:r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Lora" pitchFamily="2" charset="0"/>
              </a:rPr>
              <a:t>On each iteration, it tries to find an applicable rule by the last character of the word</a:t>
            </a:r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Lora" pitchFamily="2" charset="0"/>
              </a:rPr>
              <a:t>Each rule specifies either a deletion or replacement of an ending</a:t>
            </a:r>
            <a:endParaRPr lang="en-US" dirty="0">
              <a:solidFill>
                <a:schemeClr val="tx1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80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1B63F-7E74-49E7-AA8F-0552E346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2-Stemming Words using PorterStemmer and LancasterStemmer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F2C9FD-A021-4DFD-A1E2-15F6C4A0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828800"/>
            <a:ext cx="597408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5FADB2-AC6B-4B60-9E63-676CDAFDB8E2}"/>
              </a:ext>
            </a:extLst>
          </p:cNvPr>
          <p:cNvSpPr txBox="1"/>
          <p:nvPr/>
        </p:nvSpPr>
        <p:spPr>
          <a:xfrm>
            <a:off x="457200" y="1948934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 Stemmers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D0986E-9D22-46CD-B22D-66EF81899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660342"/>
            <a:ext cx="3826829" cy="4638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56AB83-E75F-4895-8F79-080BFE08A565}"/>
              </a:ext>
            </a:extLst>
          </p:cNvPr>
          <p:cNvSpPr txBox="1"/>
          <p:nvPr/>
        </p:nvSpPr>
        <p:spPr>
          <a:xfrm>
            <a:off x="475947" y="2657383"/>
            <a:ext cx="29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 Objects of Stemmers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6CA804-1145-404F-A774-699BA9AFC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3276600"/>
            <a:ext cx="2837813" cy="13442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474053-A442-42DA-9AB3-F1F3DD441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827971"/>
            <a:ext cx="2975770" cy="13442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537057-5439-42F4-865C-D961643F0926}"/>
              </a:ext>
            </a:extLst>
          </p:cNvPr>
          <p:cNvSpPr txBox="1"/>
          <p:nvPr/>
        </p:nvSpPr>
        <p:spPr>
          <a:xfrm>
            <a:off x="483563" y="3646620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Stemming using PorterStemmer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9AEB8A-D275-4E8D-A363-DBBE37C109A1}"/>
              </a:ext>
            </a:extLst>
          </p:cNvPr>
          <p:cNvSpPr txBox="1"/>
          <p:nvPr/>
        </p:nvSpPr>
        <p:spPr>
          <a:xfrm>
            <a:off x="487742" y="5156681"/>
            <a:ext cx="370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Stemming using LancasterStemmer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FA856C-0A6E-4A71-B8D6-15A321EF50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4837991"/>
            <a:ext cx="459408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8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1B63F-7E74-49E7-AA8F-0552E346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2-Stemming Sentences (without TOKENIZATION)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F2C9FD-A021-4DFD-A1E2-15F6C4A0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20" y="1828800"/>
            <a:ext cx="597408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5FADB2-AC6B-4B60-9E63-676CDAFDB8E2}"/>
              </a:ext>
            </a:extLst>
          </p:cNvPr>
          <p:cNvSpPr txBox="1"/>
          <p:nvPr/>
        </p:nvSpPr>
        <p:spPr>
          <a:xfrm>
            <a:off x="1752600" y="1948934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 Stemmers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D0986E-9D22-46CD-B22D-66EF81899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480" y="2660342"/>
            <a:ext cx="3826829" cy="4638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56AB83-E75F-4895-8F79-080BFE08A565}"/>
              </a:ext>
            </a:extLst>
          </p:cNvPr>
          <p:cNvSpPr txBox="1"/>
          <p:nvPr/>
        </p:nvSpPr>
        <p:spPr>
          <a:xfrm>
            <a:off x="1751860" y="2657383"/>
            <a:ext cx="29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 Objects of Stemmers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37057-5439-42F4-865C-D961643F0926}"/>
              </a:ext>
            </a:extLst>
          </p:cNvPr>
          <p:cNvSpPr txBox="1"/>
          <p:nvPr/>
        </p:nvSpPr>
        <p:spPr>
          <a:xfrm>
            <a:off x="1143000" y="3646620"/>
            <a:ext cx="24000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Stemming using 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PorterStemmer</a:t>
            </a:r>
          </a:p>
          <a:p>
            <a:pPr marL="342900" indent="-342900">
              <a:buAutoNum type="arabicPeriod"/>
            </a:pPr>
            <a:r>
              <a:rPr lang="en-US" b="1" dirty="0"/>
              <a:t>LancasterStemmer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0CF36-2137-4D28-B0DB-CDA2579D2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837" y="3693664"/>
            <a:ext cx="6761430" cy="12593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1A6F3B-8EE3-4190-92E2-36F95E2CE3BA}"/>
              </a:ext>
            </a:extLst>
          </p:cNvPr>
          <p:cNvSpPr txBox="1"/>
          <p:nvPr/>
        </p:nvSpPr>
        <p:spPr>
          <a:xfrm>
            <a:off x="4573480" y="5029200"/>
            <a:ext cx="6761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Lora" pitchFamily="2" charset="0"/>
              </a:rPr>
              <a:t>As you see the stemmer sees the entire sentence as a word, so it returns it as it is. We need to stem each word in the sentence and return a combined sentence. To separate the sentence into words, you can use </a:t>
            </a:r>
            <a:r>
              <a:rPr lang="en-US" b="1" i="0" dirty="0">
                <a:effectLst/>
                <a:latin typeface="Lora" pitchFamily="2" charset="0"/>
              </a:rPr>
              <a:t>tokenizer.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1B63F-7E74-49E7-AA8F-0552E346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2-Stemming Sentences (with TOKENIZATION)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F2C9FD-A021-4DFD-A1E2-15F6C4A0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20" y="1828800"/>
            <a:ext cx="597408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5FADB2-AC6B-4B60-9E63-676CDAFDB8E2}"/>
              </a:ext>
            </a:extLst>
          </p:cNvPr>
          <p:cNvSpPr txBox="1"/>
          <p:nvPr/>
        </p:nvSpPr>
        <p:spPr>
          <a:xfrm>
            <a:off x="1752600" y="1948934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 Stemmers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D0986E-9D22-46CD-B22D-66EF81899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480" y="2660342"/>
            <a:ext cx="3826829" cy="4638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56AB83-E75F-4895-8F79-080BFE08A565}"/>
              </a:ext>
            </a:extLst>
          </p:cNvPr>
          <p:cNvSpPr txBox="1"/>
          <p:nvPr/>
        </p:nvSpPr>
        <p:spPr>
          <a:xfrm>
            <a:off x="1751860" y="2657383"/>
            <a:ext cx="29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 Objects of Stemmers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86E1B-E6BB-4F4A-92B1-144C6A35D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913" y="3275344"/>
            <a:ext cx="5575524" cy="2202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9CC9F4-19C7-400B-A099-6A581104F3DB}"/>
              </a:ext>
            </a:extLst>
          </p:cNvPr>
          <p:cNvSpPr txBox="1"/>
          <p:nvPr/>
        </p:nvSpPr>
        <p:spPr>
          <a:xfrm>
            <a:off x="1771095" y="3190783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 TOKENIZER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828485-334E-4DFB-A053-89FE7E0C1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481" y="3646727"/>
            <a:ext cx="7426320" cy="3890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DA76F4-CB0A-4DA3-8231-F7F30A3BA33E}"/>
              </a:ext>
            </a:extLst>
          </p:cNvPr>
          <p:cNvSpPr txBox="1"/>
          <p:nvPr/>
        </p:nvSpPr>
        <p:spPr>
          <a:xfrm>
            <a:off x="1771095" y="3666447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the Sentence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6CBEB9-8C1D-40C9-B0F6-F1523618B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480" y="4167107"/>
            <a:ext cx="6614819" cy="7823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E986C2-FB5C-4A8E-9A37-AD9C85B27AC2}"/>
              </a:ext>
            </a:extLst>
          </p:cNvPr>
          <p:cNvSpPr txBox="1"/>
          <p:nvPr/>
        </p:nvSpPr>
        <p:spPr>
          <a:xfrm>
            <a:off x="1768876" y="4188974"/>
            <a:ext cx="2610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Tokenize the Sentence &amp;</a:t>
            </a:r>
          </a:p>
          <a:p>
            <a:r>
              <a:rPr lang="en-US" b="1" dirty="0"/>
              <a:t>Display TOKENS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A7AE0B-157D-425F-881A-70F6D6A752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979" y="5080833"/>
            <a:ext cx="4495458" cy="911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F6E16B-927E-4D84-B78E-641F4777A0DD}"/>
              </a:ext>
            </a:extLst>
          </p:cNvPr>
          <p:cNvSpPr txBox="1"/>
          <p:nvPr/>
        </p:nvSpPr>
        <p:spPr>
          <a:xfrm>
            <a:off x="1768876" y="5004710"/>
            <a:ext cx="2544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Stem TOKENS and store</a:t>
            </a:r>
          </a:p>
          <a:p>
            <a:r>
              <a:rPr lang="en-US" b="1" dirty="0"/>
              <a:t>In a separate list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65D85D4-CB03-45D9-A000-6293E2A33A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979" y="6089896"/>
            <a:ext cx="6396470" cy="6157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4A42BE-53A0-45B3-B9EC-439AFE041178}"/>
              </a:ext>
            </a:extLst>
          </p:cNvPr>
          <p:cNvSpPr txBox="1"/>
          <p:nvPr/>
        </p:nvSpPr>
        <p:spPr>
          <a:xfrm>
            <a:off x="1825012" y="6038207"/>
            <a:ext cx="2414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Join the list containing</a:t>
            </a:r>
          </a:p>
          <a:p>
            <a:r>
              <a:rPr lang="en-US" b="1" dirty="0"/>
              <a:t>STEM words</a:t>
            </a:r>
          </a:p>
        </p:txBody>
      </p:sp>
    </p:spTree>
    <p:extLst>
      <p:ext uri="{BB962C8B-B14F-4D97-AF65-F5344CB8AC3E}">
        <p14:creationId xmlns:p14="http://schemas.microsoft.com/office/powerpoint/2010/main" val="2841048452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468775DC-C458-452B-B494-CBFA066AAFA0}" vid="{10EEBE7C-0769-4F35-B6EB-5940E3BEB5F4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098515-0C12-46CF-BC7C-69B4A13CD5FA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4873beb7-5857-4685-be1f-d57550cc96cc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409</TotalTime>
  <Words>411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</vt:lpstr>
      <vt:lpstr>Candara</vt:lpstr>
      <vt:lpstr>Consolas</vt:lpstr>
      <vt:lpstr>Lora</vt:lpstr>
      <vt:lpstr>Tech Computer 16x9</vt:lpstr>
      <vt:lpstr>Stem or Lemmatize Words</vt:lpstr>
      <vt:lpstr>Stemming</vt:lpstr>
      <vt:lpstr>Stemming and Lemmatization</vt:lpstr>
      <vt:lpstr>How to do it in Python?</vt:lpstr>
      <vt:lpstr>Step 1-Download and Install NLTK</vt:lpstr>
      <vt:lpstr>Step 1-Download and Install NLTK</vt:lpstr>
      <vt:lpstr>Step 2-Stemming Words using PorterStemmer and LancasterStemmer</vt:lpstr>
      <vt:lpstr>Step 2-Stemming Words using PorterStemmer and LancasterStemmer</vt:lpstr>
      <vt:lpstr>Step 2-Stemming Sentences (without TOKENIZATION)</vt:lpstr>
      <vt:lpstr>Step 2-Stemming Sentences (with TOKENIZATION)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Set Extraction</dc:title>
  <dc:creator>USMAN RAFI</dc:creator>
  <cp:lastModifiedBy>nayyar</cp:lastModifiedBy>
  <cp:revision>326</cp:revision>
  <dcterms:created xsi:type="dcterms:W3CDTF">2019-02-28T17:51:33Z</dcterms:created>
  <dcterms:modified xsi:type="dcterms:W3CDTF">2024-12-12T07:15:44Z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
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57" r:id="rId4"/>
    <p:sldId id="259" r:id="rId5"/>
    <p:sldId id="261" r:id="rId6"/>
    <p:sldId id="262" r:id="rId7"/>
    <p:sldId id="263" r:id="rId8"/>
    <p:sldId id="26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20"/>
  </p:normalViewPr>
  <p:slideViewPr>
    <p:cSldViewPr snapToGrid="0">
      <p:cViewPr varScale="1">
        <p:scale>
          <a:sx n="90" d="100"/>
          <a:sy n="90" d="100"/>
        </p:scale>
        <p:origin x="232" y="4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436A2-73F4-AFDB-7C46-38E5DAF6E5A5}"/>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469E10C4-336D-8181-6B24-B65D2A4CC84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2185B458-098D-478C-4CE3-9EFE3DB38956}"/>
              </a:ext>
            </a:extLst>
          </p:cNvPr>
          <p:cNvSpPr>
            <a:spLocks noGrp="1"/>
          </p:cNvSpPr>
          <p:nvPr>
            <p:ph type="dt" sz="half" idx="10"/>
          </p:nvPr>
        </p:nvSpPr>
        <p:spPr/>
        <p:txBody>
          <a:bodyPr/>
          <a:lstStyle/>
          <a:p>
            <a:fld id="{38ED1797-2A50-244E-8AF2-A431477D6404}" type="datetimeFigureOut">
              <a:rPr lang="en-US" smtClean="0"/>
              <a:t>4/22/25</a:t>
            </a:fld>
            <a:endParaRPr lang="en-US"/>
          </a:p>
        </p:txBody>
      </p:sp>
      <p:sp>
        <p:nvSpPr>
          <p:cNvPr id="5" name="Footer Placeholder 4">
            <a:extLst>
              <a:ext uri="{FF2B5EF4-FFF2-40B4-BE49-F238E27FC236}">
                <a16:creationId xmlns:a16="http://schemas.microsoft.com/office/drawing/2014/main" id="{87EC7DAA-C9FE-EAC3-25A5-BDD3C5D074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15385D-BCC0-423F-91B1-255166274F90}"/>
              </a:ext>
            </a:extLst>
          </p:cNvPr>
          <p:cNvSpPr>
            <a:spLocks noGrp="1"/>
          </p:cNvSpPr>
          <p:nvPr>
            <p:ph type="sldNum" sz="quarter" idx="12"/>
          </p:nvPr>
        </p:nvSpPr>
        <p:spPr/>
        <p:txBody>
          <a:bodyPr/>
          <a:lstStyle/>
          <a:p>
            <a:fld id="{0E52D6F7-E647-1844-A346-C399D20317E0}" type="slidenum">
              <a:rPr lang="en-US" smtClean="0"/>
              <a:t>‹#›</a:t>
            </a:fld>
            <a:endParaRPr lang="en-US"/>
          </a:p>
        </p:txBody>
      </p:sp>
    </p:spTree>
    <p:extLst>
      <p:ext uri="{BB962C8B-B14F-4D97-AF65-F5344CB8AC3E}">
        <p14:creationId xmlns:p14="http://schemas.microsoft.com/office/powerpoint/2010/main" val="41819050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B7ECB-9B8E-4774-6E39-F0A6DCF98D9D}"/>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09CC86C-6623-86EA-6792-558389E66B7E}"/>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0AAF746-F71A-7CA0-B533-92F0F14BA468}"/>
              </a:ext>
            </a:extLst>
          </p:cNvPr>
          <p:cNvSpPr>
            <a:spLocks noGrp="1"/>
          </p:cNvSpPr>
          <p:nvPr>
            <p:ph type="dt" sz="half" idx="10"/>
          </p:nvPr>
        </p:nvSpPr>
        <p:spPr/>
        <p:txBody>
          <a:bodyPr/>
          <a:lstStyle/>
          <a:p>
            <a:fld id="{38ED1797-2A50-244E-8AF2-A431477D6404}" type="datetimeFigureOut">
              <a:rPr lang="en-US" smtClean="0"/>
              <a:t>4/22/25</a:t>
            </a:fld>
            <a:endParaRPr lang="en-US"/>
          </a:p>
        </p:txBody>
      </p:sp>
      <p:sp>
        <p:nvSpPr>
          <p:cNvPr id="5" name="Footer Placeholder 4">
            <a:extLst>
              <a:ext uri="{FF2B5EF4-FFF2-40B4-BE49-F238E27FC236}">
                <a16:creationId xmlns:a16="http://schemas.microsoft.com/office/drawing/2014/main" id="{D0F970AD-AF82-2DF8-FB75-B974F482AA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6AE7B-6FE1-5CC0-675F-2D21C7BB8D2B}"/>
              </a:ext>
            </a:extLst>
          </p:cNvPr>
          <p:cNvSpPr>
            <a:spLocks noGrp="1"/>
          </p:cNvSpPr>
          <p:nvPr>
            <p:ph type="sldNum" sz="quarter" idx="12"/>
          </p:nvPr>
        </p:nvSpPr>
        <p:spPr/>
        <p:txBody>
          <a:bodyPr/>
          <a:lstStyle/>
          <a:p>
            <a:fld id="{0E52D6F7-E647-1844-A346-C399D20317E0}" type="slidenum">
              <a:rPr lang="en-US" smtClean="0"/>
              <a:t>‹#›</a:t>
            </a:fld>
            <a:endParaRPr lang="en-US"/>
          </a:p>
        </p:txBody>
      </p:sp>
    </p:spTree>
    <p:extLst>
      <p:ext uri="{BB962C8B-B14F-4D97-AF65-F5344CB8AC3E}">
        <p14:creationId xmlns:p14="http://schemas.microsoft.com/office/powerpoint/2010/main" val="36891035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03B4E-AF9F-6014-CA9B-B846C0114936}"/>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F607D73C-9CF0-3329-54F0-A80D803519E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98B9E1FC-7CB9-2FE1-B224-236D2925587C}"/>
              </a:ext>
            </a:extLst>
          </p:cNvPr>
          <p:cNvSpPr>
            <a:spLocks noGrp="1"/>
          </p:cNvSpPr>
          <p:nvPr>
            <p:ph type="dt" sz="half" idx="10"/>
          </p:nvPr>
        </p:nvSpPr>
        <p:spPr/>
        <p:txBody>
          <a:bodyPr/>
          <a:lstStyle/>
          <a:p>
            <a:fld id="{38ED1797-2A50-244E-8AF2-A431477D6404}" type="datetimeFigureOut">
              <a:rPr lang="en-US" smtClean="0"/>
              <a:t>4/22/25</a:t>
            </a:fld>
            <a:endParaRPr lang="en-US"/>
          </a:p>
        </p:txBody>
      </p:sp>
      <p:sp>
        <p:nvSpPr>
          <p:cNvPr id="5" name="Footer Placeholder 4">
            <a:extLst>
              <a:ext uri="{FF2B5EF4-FFF2-40B4-BE49-F238E27FC236}">
                <a16:creationId xmlns:a16="http://schemas.microsoft.com/office/drawing/2014/main" id="{DE39F4AD-8EBA-BE59-2886-6839E7B763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BD47CF-064F-8DE6-9D35-62A469241964}"/>
              </a:ext>
            </a:extLst>
          </p:cNvPr>
          <p:cNvSpPr>
            <a:spLocks noGrp="1"/>
          </p:cNvSpPr>
          <p:nvPr>
            <p:ph type="sldNum" sz="quarter" idx="12"/>
          </p:nvPr>
        </p:nvSpPr>
        <p:spPr/>
        <p:txBody>
          <a:bodyPr/>
          <a:lstStyle/>
          <a:p>
            <a:fld id="{0E52D6F7-E647-1844-A346-C399D20317E0}" type="slidenum">
              <a:rPr lang="en-US" smtClean="0"/>
              <a:t>‹#›</a:t>
            </a:fld>
            <a:endParaRPr lang="en-US"/>
          </a:p>
        </p:txBody>
      </p:sp>
    </p:spTree>
    <p:extLst>
      <p:ext uri="{BB962C8B-B14F-4D97-AF65-F5344CB8AC3E}">
        <p14:creationId xmlns:p14="http://schemas.microsoft.com/office/powerpoint/2010/main" val="28988807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A6A54E-59B1-5506-B4D7-FF47B5F6AC0A}"/>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4E6E98F-5E70-49B7-2159-F75E34971476}"/>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80C11EE3-A4BD-C1D7-FCC8-0F719B08760C}"/>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1A91C3FE-6755-DBEE-34BA-3F371BCD5EB2}"/>
              </a:ext>
            </a:extLst>
          </p:cNvPr>
          <p:cNvSpPr>
            <a:spLocks noGrp="1"/>
          </p:cNvSpPr>
          <p:nvPr>
            <p:ph type="dt" sz="half" idx="10"/>
          </p:nvPr>
        </p:nvSpPr>
        <p:spPr/>
        <p:txBody>
          <a:bodyPr/>
          <a:lstStyle/>
          <a:p>
            <a:fld id="{38ED1797-2A50-244E-8AF2-A431477D6404}" type="datetimeFigureOut">
              <a:rPr lang="en-US" smtClean="0"/>
              <a:t>4/22/25</a:t>
            </a:fld>
            <a:endParaRPr lang="en-US"/>
          </a:p>
        </p:txBody>
      </p:sp>
      <p:sp>
        <p:nvSpPr>
          <p:cNvPr id="6" name="Footer Placeholder 5">
            <a:extLst>
              <a:ext uri="{FF2B5EF4-FFF2-40B4-BE49-F238E27FC236}">
                <a16:creationId xmlns:a16="http://schemas.microsoft.com/office/drawing/2014/main" id="{E7B0F76C-237D-4586-3972-0D3F715DE90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9F0168-8AB6-820B-08F0-E099827A409A}"/>
              </a:ext>
            </a:extLst>
          </p:cNvPr>
          <p:cNvSpPr>
            <a:spLocks noGrp="1"/>
          </p:cNvSpPr>
          <p:nvPr>
            <p:ph type="sldNum" sz="quarter" idx="12"/>
          </p:nvPr>
        </p:nvSpPr>
        <p:spPr/>
        <p:txBody>
          <a:bodyPr/>
          <a:lstStyle/>
          <a:p>
            <a:fld id="{0E52D6F7-E647-1844-A346-C399D20317E0}" type="slidenum">
              <a:rPr lang="en-US" smtClean="0"/>
              <a:t>‹#›</a:t>
            </a:fld>
            <a:endParaRPr lang="en-US"/>
          </a:p>
        </p:txBody>
      </p:sp>
    </p:spTree>
    <p:extLst>
      <p:ext uri="{BB962C8B-B14F-4D97-AF65-F5344CB8AC3E}">
        <p14:creationId xmlns:p14="http://schemas.microsoft.com/office/powerpoint/2010/main" val="1390152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2AF88-7A9D-DD86-8D08-320482D8884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85999B2-3604-5F47-3F0C-A65CAC3E98C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343E735E-DCC3-4FE7-94BC-2285AC6759A0}"/>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CC41FEEC-FC5B-3C3E-A8AF-0870D563956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AAC8B75B-4DB1-668A-8284-4279AC296191}"/>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29E0D072-E77D-AF27-C36B-748DA1CEA20A}"/>
              </a:ext>
            </a:extLst>
          </p:cNvPr>
          <p:cNvSpPr>
            <a:spLocks noGrp="1"/>
          </p:cNvSpPr>
          <p:nvPr>
            <p:ph type="dt" sz="half" idx="10"/>
          </p:nvPr>
        </p:nvSpPr>
        <p:spPr/>
        <p:txBody>
          <a:bodyPr/>
          <a:lstStyle/>
          <a:p>
            <a:fld id="{38ED1797-2A50-244E-8AF2-A431477D6404}" type="datetimeFigureOut">
              <a:rPr lang="en-US" smtClean="0"/>
              <a:t>4/22/25</a:t>
            </a:fld>
            <a:endParaRPr lang="en-US"/>
          </a:p>
        </p:txBody>
      </p:sp>
      <p:sp>
        <p:nvSpPr>
          <p:cNvPr id="8" name="Footer Placeholder 7">
            <a:extLst>
              <a:ext uri="{FF2B5EF4-FFF2-40B4-BE49-F238E27FC236}">
                <a16:creationId xmlns:a16="http://schemas.microsoft.com/office/drawing/2014/main" id="{24AA6AEE-69AE-4AE1-47C9-6A7A92905E7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CE32A3B-D428-43FF-80D3-AA9969CAEC42}"/>
              </a:ext>
            </a:extLst>
          </p:cNvPr>
          <p:cNvSpPr>
            <a:spLocks noGrp="1"/>
          </p:cNvSpPr>
          <p:nvPr>
            <p:ph type="sldNum" sz="quarter" idx="12"/>
          </p:nvPr>
        </p:nvSpPr>
        <p:spPr/>
        <p:txBody>
          <a:bodyPr/>
          <a:lstStyle/>
          <a:p>
            <a:fld id="{0E52D6F7-E647-1844-A346-C399D20317E0}" type="slidenum">
              <a:rPr lang="en-US" smtClean="0"/>
              <a:t>‹#›</a:t>
            </a:fld>
            <a:endParaRPr lang="en-US"/>
          </a:p>
        </p:txBody>
      </p:sp>
    </p:spTree>
    <p:extLst>
      <p:ext uri="{BB962C8B-B14F-4D97-AF65-F5344CB8AC3E}">
        <p14:creationId xmlns:p14="http://schemas.microsoft.com/office/powerpoint/2010/main" val="395001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09779-AE92-4C43-C030-A0F6335721A2}"/>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D5670040-761C-BC57-37F2-6F8147CBAFB1}"/>
              </a:ext>
            </a:extLst>
          </p:cNvPr>
          <p:cNvSpPr>
            <a:spLocks noGrp="1"/>
          </p:cNvSpPr>
          <p:nvPr>
            <p:ph type="dt" sz="half" idx="10"/>
          </p:nvPr>
        </p:nvSpPr>
        <p:spPr/>
        <p:txBody>
          <a:bodyPr/>
          <a:lstStyle/>
          <a:p>
            <a:fld id="{38ED1797-2A50-244E-8AF2-A431477D6404}" type="datetimeFigureOut">
              <a:rPr lang="en-US" smtClean="0"/>
              <a:t>4/22/25</a:t>
            </a:fld>
            <a:endParaRPr lang="en-US"/>
          </a:p>
        </p:txBody>
      </p:sp>
      <p:sp>
        <p:nvSpPr>
          <p:cNvPr id="4" name="Footer Placeholder 3">
            <a:extLst>
              <a:ext uri="{FF2B5EF4-FFF2-40B4-BE49-F238E27FC236}">
                <a16:creationId xmlns:a16="http://schemas.microsoft.com/office/drawing/2014/main" id="{5B18E3A9-8339-291B-5312-B8B31A55512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D7FAC31-6ABA-8000-0354-60FDDD36A1E4}"/>
              </a:ext>
            </a:extLst>
          </p:cNvPr>
          <p:cNvSpPr>
            <a:spLocks noGrp="1"/>
          </p:cNvSpPr>
          <p:nvPr>
            <p:ph type="sldNum" sz="quarter" idx="12"/>
          </p:nvPr>
        </p:nvSpPr>
        <p:spPr/>
        <p:txBody>
          <a:bodyPr/>
          <a:lstStyle/>
          <a:p>
            <a:fld id="{0E52D6F7-E647-1844-A346-C399D20317E0}" type="slidenum">
              <a:rPr lang="en-US" smtClean="0"/>
              <a:t>‹#›</a:t>
            </a:fld>
            <a:endParaRPr lang="en-US"/>
          </a:p>
        </p:txBody>
      </p:sp>
    </p:spTree>
    <p:extLst>
      <p:ext uri="{BB962C8B-B14F-4D97-AF65-F5344CB8AC3E}">
        <p14:creationId xmlns:p14="http://schemas.microsoft.com/office/powerpoint/2010/main" val="25575494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3019A08-13BA-97B9-79F0-B0D257497BB1}"/>
              </a:ext>
            </a:extLst>
          </p:cNvPr>
          <p:cNvSpPr>
            <a:spLocks noGrp="1"/>
          </p:cNvSpPr>
          <p:nvPr>
            <p:ph type="dt" sz="half" idx="10"/>
          </p:nvPr>
        </p:nvSpPr>
        <p:spPr/>
        <p:txBody>
          <a:bodyPr/>
          <a:lstStyle/>
          <a:p>
            <a:fld id="{38ED1797-2A50-244E-8AF2-A431477D6404}" type="datetimeFigureOut">
              <a:rPr lang="en-US" smtClean="0"/>
              <a:t>4/22/25</a:t>
            </a:fld>
            <a:endParaRPr lang="en-US"/>
          </a:p>
        </p:txBody>
      </p:sp>
      <p:sp>
        <p:nvSpPr>
          <p:cNvPr id="3" name="Footer Placeholder 2">
            <a:extLst>
              <a:ext uri="{FF2B5EF4-FFF2-40B4-BE49-F238E27FC236}">
                <a16:creationId xmlns:a16="http://schemas.microsoft.com/office/drawing/2014/main" id="{FF36C90B-89C9-FA60-A7F7-FEA74AED6B8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33E5E95-3784-EFE2-C885-70B8DC03A868}"/>
              </a:ext>
            </a:extLst>
          </p:cNvPr>
          <p:cNvSpPr>
            <a:spLocks noGrp="1"/>
          </p:cNvSpPr>
          <p:nvPr>
            <p:ph type="sldNum" sz="quarter" idx="12"/>
          </p:nvPr>
        </p:nvSpPr>
        <p:spPr/>
        <p:txBody>
          <a:bodyPr/>
          <a:lstStyle/>
          <a:p>
            <a:fld id="{0E52D6F7-E647-1844-A346-C399D20317E0}" type="slidenum">
              <a:rPr lang="en-US" smtClean="0"/>
              <a:t>‹#›</a:t>
            </a:fld>
            <a:endParaRPr lang="en-US"/>
          </a:p>
        </p:txBody>
      </p:sp>
    </p:spTree>
    <p:extLst>
      <p:ext uri="{BB962C8B-B14F-4D97-AF65-F5344CB8AC3E}">
        <p14:creationId xmlns:p14="http://schemas.microsoft.com/office/powerpoint/2010/main" val="8085805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EED1C-3449-567F-939A-496AD49B2D6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0AE72596-6764-23F9-5BD6-C3FD0545419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2C4ECA1-373E-C0CD-1519-9EDE4E2A8B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476996B-59BE-4D4F-6A0D-E9BA3F657095}"/>
              </a:ext>
            </a:extLst>
          </p:cNvPr>
          <p:cNvSpPr>
            <a:spLocks noGrp="1"/>
          </p:cNvSpPr>
          <p:nvPr>
            <p:ph type="dt" sz="half" idx="10"/>
          </p:nvPr>
        </p:nvSpPr>
        <p:spPr/>
        <p:txBody>
          <a:bodyPr/>
          <a:lstStyle/>
          <a:p>
            <a:fld id="{38ED1797-2A50-244E-8AF2-A431477D6404}" type="datetimeFigureOut">
              <a:rPr lang="en-US" smtClean="0"/>
              <a:t>4/22/25</a:t>
            </a:fld>
            <a:endParaRPr lang="en-US"/>
          </a:p>
        </p:txBody>
      </p:sp>
      <p:sp>
        <p:nvSpPr>
          <p:cNvPr id="6" name="Footer Placeholder 5">
            <a:extLst>
              <a:ext uri="{FF2B5EF4-FFF2-40B4-BE49-F238E27FC236}">
                <a16:creationId xmlns:a16="http://schemas.microsoft.com/office/drawing/2014/main" id="{85DD5D4E-0052-393C-98E6-F1ECAB43AAA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9DBF7A4-6910-8F14-ABF6-55E29C2F6769}"/>
              </a:ext>
            </a:extLst>
          </p:cNvPr>
          <p:cNvSpPr>
            <a:spLocks noGrp="1"/>
          </p:cNvSpPr>
          <p:nvPr>
            <p:ph type="sldNum" sz="quarter" idx="12"/>
          </p:nvPr>
        </p:nvSpPr>
        <p:spPr/>
        <p:txBody>
          <a:bodyPr/>
          <a:lstStyle/>
          <a:p>
            <a:fld id="{0E52D6F7-E647-1844-A346-C399D20317E0}" type="slidenum">
              <a:rPr lang="en-US" smtClean="0"/>
              <a:t>‹#›</a:t>
            </a:fld>
            <a:endParaRPr lang="en-US"/>
          </a:p>
        </p:txBody>
      </p:sp>
    </p:spTree>
    <p:extLst>
      <p:ext uri="{BB962C8B-B14F-4D97-AF65-F5344CB8AC3E}">
        <p14:creationId xmlns:p14="http://schemas.microsoft.com/office/powerpoint/2010/main" val="8279954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0363E-8C61-29DA-57B2-AD13B4B66B5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19C67872-2687-584A-A289-6EC5511A92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A5176C2-0E8D-E15A-4019-456B72455D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81F7AC4-AE69-7453-4461-8D2258F966DE}"/>
              </a:ext>
            </a:extLst>
          </p:cNvPr>
          <p:cNvSpPr>
            <a:spLocks noGrp="1"/>
          </p:cNvSpPr>
          <p:nvPr>
            <p:ph type="dt" sz="half" idx="10"/>
          </p:nvPr>
        </p:nvSpPr>
        <p:spPr/>
        <p:txBody>
          <a:bodyPr/>
          <a:lstStyle/>
          <a:p>
            <a:fld id="{38ED1797-2A50-244E-8AF2-A431477D6404}" type="datetimeFigureOut">
              <a:rPr lang="en-US" smtClean="0"/>
              <a:t>4/22/25</a:t>
            </a:fld>
            <a:endParaRPr lang="en-US"/>
          </a:p>
        </p:txBody>
      </p:sp>
      <p:sp>
        <p:nvSpPr>
          <p:cNvPr id="6" name="Footer Placeholder 5">
            <a:extLst>
              <a:ext uri="{FF2B5EF4-FFF2-40B4-BE49-F238E27FC236}">
                <a16:creationId xmlns:a16="http://schemas.microsoft.com/office/drawing/2014/main" id="{9DD9246B-3DEB-4C3B-91C6-FBFD1C8A8B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15DDD0-1C42-2576-7218-DE006AB8833C}"/>
              </a:ext>
            </a:extLst>
          </p:cNvPr>
          <p:cNvSpPr>
            <a:spLocks noGrp="1"/>
          </p:cNvSpPr>
          <p:nvPr>
            <p:ph type="sldNum" sz="quarter" idx="12"/>
          </p:nvPr>
        </p:nvSpPr>
        <p:spPr/>
        <p:txBody>
          <a:bodyPr/>
          <a:lstStyle/>
          <a:p>
            <a:fld id="{0E52D6F7-E647-1844-A346-C399D20317E0}" type="slidenum">
              <a:rPr lang="en-US" smtClean="0"/>
              <a:t>‹#›</a:t>
            </a:fld>
            <a:endParaRPr lang="en-US"/>
          </a:p>
        </p:txBody>
      </p:sp>
    </p:spTree>
    <p:extLst>
      <p:ext uri="{BB962C8B-B14F-4D97-AF65-F5344CB8AC3E}">
        <p14:creationId xmlns:p14="http://schemas.microsoft.com/office/powerpoint/2010/main" val="29169018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29788-57F2-90BE-B614-F8CBD4C42DCA}"/>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D50428D-AF5D-9545-4A92-D3907267F51F}"/>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A300F53-02EC-3A04-FEC1-2388C2C6EAE1}"/>
              </a:ext>
            </a:extLst>
          </p:cNvPr>
          <p:cNvSpPr>
            <a:spLocks noGrp="1"/>
          </p:cNvSpPr>
          <p:nvPr>
            <p:ph type="dt" sz="half" idx="10"/>
          </p:nvPr>
        </p:nvSpPr>
        <p:spPr/>
        <p:txBody>
          <a:bodyPr/>
          <a:lstStyle/>
          <a:p>
            <a:fld id="{38ED1797-2A50-244E-8AF2-A431477D6404}" type="datetimeFigureOut">
              <a:rPr lang="en-US" smtClean="0"/>
              <a:t>4/22/25</a:t>
            </a:fld>
            <a:endParaRPr lang="en-US"/>
          </a:p>
        </p:txBody>
      </p:sp>
      <p:sp>
        <p:nvSpPr>
          <p:cNvPr id="5" name="Footer Placeholder 4">
            <a:extLst>
              <a:ext uri="{FF2B5EF4-FFF2-40B4-BE49-F238E27FC236}">
                <a16:creationId xmlns:a16="http://schemas.microsoft.com/office/drawing/2014/main" id="{FC218F50-D868-F3B3-5582-F85D2C346B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0CA9BD-497E-2680-A157-409B5CBDC124}"/>
              </a:ext>
            </a:extLst>
          </p:cNvPr>
          <p:cNvSpPr>
            <a:spLocks noGrp="1"/>
          </p:cNvSpPr>
          <p:nvPr>
            <p:ph type="sldNum" sz="quarter" idx="12"/>
          </p:nvPr>
        </p:nvSpPr>
        <p:spPr/>
        <p:txBody>
          <a:bodyPr/>
          <a:lstStyle/>
          <a:p>
            <a:fld id="{0E52D6F7-E647-1844-A346-C399D20317E0}" type="slidenum">
              <a:rPr lang="en-US" smtClean="0"/>
              <a:t>‹#›</a:t>
            </a:fld>
            <a:endParaRPr lang="en-US"/>
          </a:p>
        </p:txBody>
      </p:sp>
    </p:spTree>
    <p:extLst>
      <p:ext uri="{BB962C8B-B14F-4D97-AF65-F5344CB8AC3E}">
        <p14:creationId xmlns:p14="http://schemas.microsoft.com/office/powerpoint/2010/main" val="26182731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451B5CE-85C9-B120-3FA4-4262DA203FB8}"/>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E50569EC-BBE0-48AB-7C90-5C8A497A00F3}"/>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4E28745-D6C4-C7C7-6CB5-DCA9DED6A39E}"/>
              </a:ext>
            </a:extLst>
          </p:cNvPr>
          <p:cNvSpPr>
            <a:spLocks noGrp="1"/>
          </p:cNvSpPr>
          <p:nvPr>
            <p:ph type="dt" sz="half" idx="10"/>
          </p:nvPr>
        </p:nvSpPr>
        <p:spPr/>
        <p:txBody>
          <a:bodyPr/>
          <a:lstStyle/>
          <a:p>
            <a:fld id="{38ED1797-2A50-244E-8AF2-A431477D6404}" type="datetimeFigureOut">
              <a:rPr lang="en-US" smtClean="0"/>
              <a:t>4/22/25</a:t>
            </a:fld>
            <a:endParaRPr lang="en-US"/>
          </a:p>
        </p:txBody>
      </p:sp>
      <p:sp>
        <p:nvSpPr>
          <p:cNvPr id="5" name="Footer Placeholder 4">
            <a:extLst>
              <a:ext uri="{FF2B5EF4-FFF2-40B4-BE49-F238E27FC236}">
                <a16:creationId xmlns:a16="http://schemas.microsoft.com/office/drawing/2014/main" id="{133F9170-81C1-C223-08D4-6E809C38DA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7A1B6B-73A0-F6E8-24A4-A33610F06A7E}"/>
              </a:ext>
            </a:extLst>
          </p:cNvPr>
          <p:cNvSpPr>
            <a:spLocks noGrp="1"/>
          </p:cNvSpPr>
          <p:nvPr>
            <p:ph type="sldNum" sz="quarter" idx="12"/>
          </p:nvPr>
        </p:nvSpPr>
        <p:spPr/>
        <p:txBody>
          <a:bodyPr/>
          <a:lstStyle/>
          <a:p>
            <a:fld id="{0E52D6F7-E647-1844-A346-C399D20317E0}" type="slidenum">
              <a:rPr lang="en-US" smtClean="0"/>
              <a:t>‹#›</a:t>
            </a:fld>
            <a:endParaRPr lang="en-US"/>
          </a:p>
        </p:txBody>
      </p:sp>
    </p:spTree>
    <p:extLst>
      <p:ext uri="{BB962C8B-B14F-4D97-AF65-F5344CB8AC3E}">
        <p14:creationId xmlns:p14="http://schemas.microsoft.com/office/powerpoint/2010/main" val="28843817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4439F4F-9C4B-EC6D-EACF-F6C3ACA5C25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2C64DB3-27EE-9B0D-7DF7-FF41966555C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9680987-537E-33D4-0AEE-24A62BEB22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8ED1797-2A50-244E-8AF2-A431477D6404}" type="datetimeFigureOut">
              <a:rPr lang="en-US" smtClean="0"/>
              <a:t>4/22/25</a:t>
            </a:fld>
            <a:endParaRPr lang="en-US"/>
          </a:p>
        </p:txBody>
      </p:sp>
      <p:sp>
        <p:nvSpPr>
          <p:cNvPr id="5" name="Footer Placeholder 4">
            <a:extLst>
              <a:ext uri="{FF2B5EF4-FFF2-40B4-BE49-F238E27FC236}">
                <a16:creationId xmlns:a16="http://schemas.microsoft.com/office/drawing/2014/main" id="{936F37C1-6498-36D0-E654-DA6EC0D5455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4AE4BEE-224B-A294-8070-22032ECB713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E52D6F7-E647-1844-A346-C399D20317E0}" type="slidenum">
              <a:rPr lang="en-US" smtClean="0"/>
              <a:t>‹#›</a:t>
            </a:fld>
            <a:endParaRPr lang="en-US"/>
          </a:p>
        </p:txBody>
      </p:sp>
    </p:spTree>
    <p:extLst>
      <p:ext uri="{BB962C8B-B14F-4D97-AF65-F5344CB8AC3E}">
        <p14:creationId xmlns:p14="http://schemas.microsoft.com/office/powerpoint/2010/main" val="19388945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2"/>
            <a:ext cx="10999072"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1DC98C-0A9A-CD94-BCE9-C65569E22DC9}"/>
              </a:ext>
            </a:extLst>
          </p:cNvPr>
          <p:cNvSpPr>
            <a:spLocks noGrp="1"/>
          </p:cNvSpPr>
          <p:nvPr>
            <p:ph type="ctrTitle"/>
          </p:nvPr>
        </p:nvSpPr>
        <p:spPr>
          <a:xfrm>
            <a:off x="1524000" y="1293338"/>
            <a:ext cx="9144000" cy="3274592"/>
          </a:xfrm>
        </p:spPr>
        <p:txBody>
          <a:bodyPr anchor="ctr">
            <a:normAutofit/>
          </a:bodyPr>
          <a:lstStyle/>
          <a:p>
            <a:r>
              <a:rPr lang="en-US" sz="7200"/>
              <a:t>Feature Selection</a:t>
            </a:r>
          </a:p>
        </p:txBody>
      </p:sp>
      <p:sp>
        <p:nvSpPr>
          <p:cNvPr id="3" name="Subtitle 2">
            <a:extLst>
              <a:ext uri="{FF2B5EF4-FFF2-40B4-BE49-F238E27FC236}">
                <a16:creationId xmlns:a16="http://schemas.microsoft.com/office/drawing/2014/main" id="{B494D19C-BEF3-EDDF-588D-F04CDEFC208C}"/>
              </a:ext>
            </a:extLst>
          </p:cNvPr>
          <p:cNvSpPr>
            <a:spLocks noGrp="1"/>
          </p:cNvSpPr>
          <p:nvPr>
            <p:ph type="subTitle" idx="1"/>
          </p:nvPr>
        </p:nvSpPr>
        <p:spPr>
          <a:xfrm>
            <a:off x="1524000" y="5514052"/>
            <a:ext cx="9144000" cy="651910"/>
          </a:xfrm>
        </p:spPr>
        <p:txBody>
          <a:bodyPr anchor="ctr">
            <a:normAutofit/>
          </a:bodyPr>
          <a:lstStyle/>
          <a:p>
            <a:r>
              <a:rPr lang="en-US" dirty="0"/>
              <a:t>Dr. Hassan Tariq</a:t>
            </a:r>
          </a:p>
        </p:txBody>
      </p:sp>
      <p:cxnSp>
        <p:nvCxnSpPr>
          <p:cNvPr id="14" name="Straight Connector 13">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54708"/>
            <a:ext cx="11000232"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07691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4B5DE-D1F1-F084-121A-8354AC730964}"/>
              </a:ext>
            </a:extLst>
          </p:cNvPr>
          <p:cNvSpPr>
            <a:spLocks noGrp="1"/>
          </p:cNvSpPr>
          <p:nvPr>
            <p:ph type="title"/>
          </p:nvPr>
        </p:nvSpPr>
        <p:spPr/>
        <p:txBody>
          <a:bodyPr/>
          <a:lstStyle/>
          <a:p>
            <a:pPr algn="l"/>
            <a:r>
              <a:rPr lang="en-GB" b="1" i="0" dirty="0">
                <a:solidFill>
                  <a:srgbClr val="05192D"/>
                </a:solidFill>
                <a:effectLst/>
                <a:latin typeface="Studio-Feixen-Sans"/>
              </a:rPr>
              <a:t>Understanding the Importance of Feature Selection</a:t>
            </a:r>
          </a:p>
        </p:txBody>
      </p:sp>
      <p:sp>
        <p:nvSpPr>
          <p:cNvPr id="3" name="Content Placeholder 2">
            <a:extLst>
              <a:ext uri="{FF2B5EF4-FFF2-40B4-BE49-F238E27FC236}">
                <a16:creationId xmlns:a16="http://schemas.microsoft.com/office/drawing/2014/main" id="{5E73798C-EEE9-F2C1-E5C1-210A5C89F350}"/>
              </a:ext>
            </a:extLst>
          </p:cNvPr>
          <p:cNvSpPr>
            <a:spLocks noGrp="1"/>
          </p:cNvSpPr>
          <p:nvPr>
            <p:ph idx="1"/>
          </p:nvPr>
        </p:nvSpPr>
        <p:spPr/>
        <p:txBody>
          <a:bodyPr>
            <a:normAutofit fontScale="92500" lnSpcReduction="10000"/>
          </a:bodyPr>
          <a:lstStyle/>
          <a:p>
            <a:pPr algn="l"/>
            <a:r>
              <a:rPr lang="en-GB" b="0" i="0" dirty="0">
                <a:solidFill>
                  <a:srgbClr val="05192D"/>
                </a:solidFill>
                <a:effectLst/>
                <a:latin typeface="Studio-Feixen-Sans"/>
              </a:rPr>
              <a:t>Often, in a high dimensional dataset, there remain some entirely irrelevant, insignificant and unimportant features. </a:t>
            </a:r>
          </a:p>
          <a:p>
            <a:pPr algn="l"/>
            <a:r>
              <a:rPr lang="en-GB" b="0" i="0" dirty="0">
                <a:solidFill>
                  <a:srgbClr val="05192D"/>
                </a:solidFill>
                <a:effectLst/>
                <a:latin typeface="Studio-Feixen-Sans"/>
              </a:rPr>
              <a:t>It has been seen that the contribution of these types of features is often less towards predictive </a:t>
            </a:r>
            <a:r>
              <a:rPr lang="en-GB" b="0" i="0" dirty="0" err="1">
                <a:solidFill>
                  <a:srgbClr val="05192D"/>
                </a:solidFill>
                <a:effectLst/>
                <a:latin typeface="Studio-Feixen-Sans"/>
              </a:rPr>
              <a:t>modeling</a:t>
            </a:r>
            <a:r>
              <a:rPr lang="en-GB" b="0" i="0" dirty="0">
                <a:solidFill>
                  <a:srgbClr val="05192D"/>
                </a:solidFill>
                <a:effectLst/>
                <a:latin typeface="Studio-Feixen-Sans"/>
              </a:rPr>
              <a:t> as compared to the critical features. </a:t>
            </a:r>
          </a:p>
          <a:p>
            <a:pPr algn="l"/>
            <a:r>
              <a:rPr lang="en-GB" b="0" i="0" dirty="0">
                <a:solidFill>
                  <a:srgbClr val="05192D"/>
                </a:solidFill>
                <a:effectLst/>
                <a:latin typeface="Studio-Feixen-Sans"/>
              </a:rPr>
              <a:t>They may have zero contribution as well. These features cause a number of problems which in turn prevents the process of efficient predictive </a:t>
            </a:r>
            <a:r>
              <a:rPr lang="en-GB" b="0" i="0" dirty="0" err="1">
                <a:solidFill>
                  <a:srgbClr val="05192D"/>
                </a:solidFill>
                <a:effectLst/>
                <a:latin typeface="Studio-Feixen-Sans"/>
              </a:rPr>
              <a:t>modeling</a:t>
            </a:r>
            <a:r>
              <a:rPr lang="en-GB" b="0" i="0" dirty="0">
                <a:solidFill>
                  <a:srgbClr val="05192D"/>
                </a:solidFill>
                <a:effectLst/>
                <a:latin typeface="Studio-Feixen-Sans"/>
              </a:rPr>
              <a:t> -</a:t>
            </a:r>
          </a:p>
          <a:p>
            <a:pPr lvl="1"/>
            <a:r>
              <a:rPr lang="en-GB" b="0" i="0" dirty="0">
                <a:solidFill>
                  <a:srgbClr val="05192D"/>
                </a:solidFill>
                <a:effectLst/>
                <a:latin typeface="Studio-Feixen-Sans"/>
              </a:rPr>
              <a:t>Unnecessary resource allocation for these features.</a:t>
            </a:r>
          </a:p>
          <a:p>
            <a:pPr lvl="1"/>
            <a:r>
              <a:rPr lang="en-GB" b="0" i="0" dirty="0">
                <a:solidFill>
                  <a:srgbClr val="05192D"/>
                </a:solidFill>
                <a:effectLst/>
                <a:latin typeface="Studio-Feixen-Sans"/>
              </a:rPr>
              <a:t>These features act as a noise for which the machine learning model can perform terribly poorly.</a:t>
            </a:r>
          </a:p>
          <a:p>
            <a:pPr lvl="1"/>
            <a:r>
              <a:rPr lang="en-GB" b="0" i="0" dirty="0">
                <a:solidFill>
                  <a:srgbClr val="05192D"/>
                </a:solidFill>
                <a:effectLst/>
                <a:latin typeface="Studio-Feixen-Sans"/>
              </a:rPr>
              <a:t>The machine model takes more time to get trained.</a:t>
            </a:r>
            <a:br>
              <a:rPr lang="en-GB" dirty="0"/>
            </a:br>
            <a:endParaRPr lang="en-US" dirty="0"/>
          </a:p>
        </p:txBody>
      </p:sp>
    </p:spTree>
    <p:extLst>
      <p:ext uri="{BB962C8B-B14F-4D97-AF65-F5344CB8AC3E}">
        <p14:creationId xmlns:p14="http://schemas.microsoft.com/office/powerpoint/2010/main" val="17134236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64647-35D0-4882-583C-BB5B43E2BEFC}"/>
              </a:ext>
            </a:extLst>
          </p:cNvPr>
          <p:cNvSpPr>
            <a:spLocks noGrp="1"/>
          </p:cNvSpPr>
          <p:nvPr>
            <p:ph type="title"/>
          </p:nvPr>
        </p:nvSpPr>
        <p:spPr/>
        <p:txBody>
          <a:bodyPr/>
          <a:lstStyle/>
          <a:p>
            <a:r>
              <a:rPr lang="en-US" dirty="0"/>
              <a:t>Definition</a:t>
            </a:r>
          </a:p>
        </p:txBody>
      </p:sp>
      <p:sp>
        <p:nvSpPr>
          <p:cNvPr id="3" name="Content Placeholder 2">
            <a:extLst>
              <a:ext uri="{FF2B5EF4-FFF2-40B4-BE49-F238E27FC236}">
                <a16:creationId xmlns:a16="http://schemas.microsoft.com/office/drawing/2014/main" id="{1024CE5B-7603-3A85-1FA2-729C6C815148}"/>
              </a:ext>
            </a:extLst>
          </p:cNvPr>
          <p:cNvSpPr>
            <a:spLocks noGrp="1"/>
          </p:cNvSpPr>
          <p:nvPr>
            <p:ph idx="1"/>
          </p:nvPr>
        </p:nvSpPr>
        <p:spPr/>
        <p:txBody>
          <a:bodyPr/>
          <a:lstStyle/>
          <a:p>
            <a:r>
              <a:rPr lang="en-GB" b="0" i="0" dirty="0">
                <a:solidFill>
                  <a:srgbClr val="05192D"/>
                </a:solidFill>
                <a:effectLst/>
                <a:latin typeface="Studio-Feixen-Sans"/>
              </a:rPr>
              <a:t>Feature Selection is the process of selecting out the most significant features from a given dataset. </a:t>
            </a:r>
          </a:p>
          <a:p>
            <a:endParaRPr lang="en-GB" dirty="0">
              <a:solidFill>
                <a:srgbClr val="05192D"/>
              </a:solidFill>
              <a:latin typeface="Studio-Feixen-Sans"/>
            </a:endParaRPr>
          </a:p>
          <a:p>
            <a:pPr marL="0" indent="0" algn="l">
              <a:buNone/>
            </a:pPr>
            <a:r>
              <a:rPr lang="en-GB" b="0" i="1" dirty="0">
                <a:solidFill>
                  <a:srgbClr val="05192D"/>
                </a:solidFill>
                <a:effectLst/>
                <a:latin typeface="Studio-Feixen-Sans"/>
              </a:rPr>
              <a:t>"The objective of variable selection is three-fold: improving the prediction performance of the predictors, providing faster and more cost-effective predictors, and providing a better understanding of the underlying process that generated the data."</a:t>
            </a:r>
            <a:endParaRPr lang="en-GB" b="0" i="0" dirty="0">
              <a:solidFill>
                <a:srgbClr val="05192D"/>
              </a:solidFill>
              <a:effectLst/>
              <a:latin typeface="Studio-Feixen-Sans"/>
            </a:endParaRPr>
          </a:p>
          <a:p>
            <a:pPr marL="0" indent="0">
              <a:buNone/>
            </a:pPr>
            <a:endParaRPr lang="en-US" dirty="0"/>
          </a:p>
        </p:txBody>
      </p:sp>
    </p:spTree>
    <p:extLst>
      <p:ext uri="{BB962C8B-B14F-4D97-AF65-F5344CB8AC3E}">
        <p14:creationId xmlns:p14="http://schemas.microsoft.com/office/powerpoint/2010/main" val="7139163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EB750-60E6-6CE2-B96C-262A8E4065AC}"/>
              </a:ext>
            </a:extLst>
          </p:cNvPr>
          <p:cNvSpPr>
            <a:spLocks noGrp="1"/>
          </p:cNvSpPr>
          <p:nvPr>
            <p:ph type="title"/>
          </p:nvPr>
        </p:nvSpPr>
        <p:spPr/>
        <p:txBody>
          <a:bodyPr/>
          <a:lstStyle/>
          <a:p>
            <a:r>
              <a:rPr lang="en-US" dirty="0"/>
              <a:t>Dimensionality reduction</a:t>
            </a:r>
          </a:p>
        </p:txBody>
      </p:sp>
      <p:sp>
        <p:nvSpPr>
          <p:cNvPr id="3" name="Content Placeholder 2">
            <a:extLst>
              <a:ext uri="{FF2B5EF4-FFF2-40B4-BE49-F238E27FC236}">
                <a16:creationId xmlns:a16="http://schemas.microsoft.com/office/drawing/2014/main" id="{91CB41FC-2E0E-CBA5-6DD1-430E470E9AE2}"/>
              </a:ext>
            </a:extLst>
          </p:cNvPr>
          <p:cNvSpPr>
            <a:spLocks noGrp="1"/>
          </p:cNvSpPr>
          <p:nvPr>
            <p:ph idx="1"/>
          </p:nvPr>
        </p:nvSpPr>
        <p:spPr/>
        <p:txBody>
          <a:bodyPr/>
          <a:lstStyle/>
          <a:p>
            <a:r>
              <a:rPr lang="en-GB" b="0" i="0" dirty="0">
                <a:solidFill>
                  <a:srgbClr val="05192D"/>
                </a:solidFill>
                <a:effectLst/>
                <a:latin typeface="Studio-Feixen-Sans"/>
              </a:rPr>
              <a:t>Sometimes, feature selection is mistaken with dimensionality reduction. </a:t>
            </a:r>
          </a:p>
          <a:p>
            <a:r>
              <a:rPr lang="en-GB" b="0" i="0" dirty="0">
                <a:solidFill>
                  <a:srgbClr val="05192D"/>
                </a:solidFill>
                <a:effectLst/>
                <a:latin typeface="Studio-Feixen-Sans"/>
              </a:rPr>
              <a:t>But they are different. </a:t>
            </a:r>
          </a:p>
          <a:p>
            <a:r>
              <a:rPr lang="en-GB" b="0" i="0" dirty="0">
                <a:solidFill>
                  <a:srgbClr val="05192D"/>
                </a:solidFill>
                <a:effectLst/>
                <a:latin typeface="Studio-Feixen-Sans"/>
              </a:rPr>
              <a:t>Feature selection is different from dimensionality reduction. </a:t>
            </a:r>
          </a:p>
          <a:p>
            <a:r>
              <a:rPr lang="en-GB" b="0" i="0" dirty="0">
                <a:solidFill>
                  <a:srgbClr val="05192D"/>
                </a:solidFill>
                <a:effectLst/>
                <a:latin typeface="Studio-Feixen-Sans"/>
              </a:rPr>
              <a:t>Both methods tend to reduce the number of attributes in the dataset, but a dimensionality reduction method does so by creating new combinations of attributes (sometimes known as feature transformation), whereas feature selection methods include and exclude attributes present in the data without changing them.</a:t>
            </a:r>
            <a:endParaRPr lang="en-US" dirty="0"/>
          </a:p>
        </p:txBody>
      </p:sp>
    </p:spTree>
    <p:extLst>
      <p:ext uri="{BB962C8B-B14F-4D97-AF65-F5344CB8AC3E}">
        <p14:creationId xmlns:p14="http://schemas.microsoft.com/office/powerpoint/2010/main" val="41275250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A2C57-01A1-DC6A-A8F5-D6ED79EFBB0F}"/>
              </a:ext>
            </a:extLst>
          </p:cNvPr>
          <p:cNvSpPr>
            <a:spLocks noGrp="1"/>
          </p:cNvSpPr>
          <p:nvPr>
            <p:ph type="title"/>
          </p:nvPr>
        </p:nvSpPr>
        <p:spPr>
          <a:xfrm>
            <a:off x="838200" y="0"/>
            <a:ext cx="10515600" cy="733425"/>
          </a:xfrm>
        </p:spPr>
        <p:txBody>
          <a:bodyPr/>
          <a:lstStyle/>
          <a:p>
            <a:r>
              <a:rPr lang="en-US" dirty="0"/>
              <a:t>Filter methods</a:t>
            </a:r>
          </a:p>
        </p:txBody>
      </p:sp>
      <p:sp>
        <p:nvSpPr>
          <p:cNvPr id="3" name="Content Placeholder 2">
            <a:extLst>
              <a:ext uri="{FF2B5EF4-FFF2-40B4-BE49-F238E27FC236}">
                <a16:creationId xmlns:a16="http://schemas.microsoft.com/office/drawing/2014/main" id="{2DDAAB3D-ADF9-FCCB-0AF9-9AA469ACCC57}"/>
              </a:ext>
            </a:extLst>
          </p:cNvPr>
          <p:cNvSpPr>
            <a:spLocks noGrp="1"/>
          </p:cNvSpPr>
          <p:nvPr>
            <p:ph idx="1"/>
          </p:nvPr>
        </p:nvSpPr>
        <p:spPr/>
        <p:txBody>
          <a:bodyPr>
            <a:normAutofit fontScale="92500"/>
          </a:bodyPr>
          <a:lstStyle/>
          <a:p>
            <a:r>
              <a:rPr lang="en-GB" b="0" i="0" dirty="0">
                <a:solidFill>
                  <a:srgbClr val="05192D"/>
                </a:solidFill>
                <a:effectLst/>
                <a:latin typeface="Studio-Feixen-Sans"/>
              </a:rPr>
              <a:t>Filter method relies on the general uniqueness of the data to be evaluated and pick feature subset, not including any mining algorithm. </a:t>
            </a:r>
          </a:p>
          <a:p>
            <a:r>
              <a:rPr lang="en-GB" b="0" i="0" dirty="0">
                <a:solidFill>
                  <a:srgbClr val="05192D"/>
                </a:solidFill>
                <a:effectLst/>
                <a:latin typeface="Studio-Feixen-Sans"/>
              </a:rPr>
              <a:t>Filter method uses the exact assessment criterion which includes distance, information, dependency, and consistency. </a:t>
            </a:r>
          </a:p>
          <a:p>
            <a:r>
              <a:rPr lang="en-GB" b="0" i="0" dirty="0">
                <a:solidFill>
                  <a:srgbClr val="05192D"/>
                </a:solidFill>
                <a:effectLst/>
                <a:latin typeface="Studio-Feixen-Sans"/>
              </a:rPr>
              <a:t>They use the principal criteria of ranking technique and uses the rank ordering method for variable selection. </a:t>
            </a:r>
          </a:p>
          <a:p>
            <a:r>
              <a:rPr lang="en-GB" b="0" i="0" dirty="0">
                <a:solidFill>
                  <a:srgbClr val="05192D"/>
                </a:solidFill>
                <a:effectLst/>
                <a:latin typeface="Studio-Feixen-Sans"/>
              </a:rPr>
              <a:t>The reason for using the ranking method is simplicity, produce excellent and relevant features. </a:t>
            </a:r>
          </a:p>
          <a:p>
            <a:r>
              <a:rPr lang="en-GB" b="0" i="0" dirty="0">
                <a:solidFill>
                  <a:srgbClr val="05192D"/>
                </a:solidFill>
                <a:effectLst/>
                <a:latin typeface="Studio-Feixen-Sans"/>
              </a:rPr>
              <a:t>Some examples of some filter methods include the </a:t>
            </a:r>
            <a:r>
              <a:rPr lang="en-GB" b="1" i="1" dirty="0">
                <a:solidFill>
                  <a:srgbClr val="05192D"/>
                </a:solidFill>
                <a:effectLst/>
                <a:latin typeface="Studio-Feixen-Sans"/>
              </a:rPr>
              <a:t>Chi-squared test</a:t>
            </a:r>
            <a:r>
              <a:rPr lang="en-GB" b="0" i="0" dirty="0">
                <a:solidFill>
                  <a:srgbClr val="05192D"/>
                </a:solidFill>
                <a:effectLst/>
                <a:latin typeface="Studio-Feixen-Sans"/>
              </a:rPr>
              <a:t>, </a:t>
            </a:r>
            <a:r>
              <a:rPr lang="en-GB" b="1" i="1" dirty="0">
                <a:solidFill>
                  <a:srgbClr val="05192D"/>
                </a:solidFill>
                <a:effectLst/>
                <a:latin typeface="Studio-Feixen-Sans"/>
              </a:rPr>
              <a:t>information gain</a:t>
            </a:r>
            <a:r>
              <a:rPr lang="en-GB" b="0" i="0" dirty="0">
                <a:solidFill>
                  <a:srgbClr val="05192D"/>
                </a:solidFill>
                <a:effectLst/>
                <a:latin typeface="Studio-Feixen-Sans"/>
              </a:rPr>
              <a:t>, and </a:t>
            </a:r>
            <a:r>
              <a:rPr lang="en-GB" b="1" i="1" dirty="0">
                <a:solidFill>
                  <a:srgbClr val="05192D"/>
                </a:solidFill>
                <a:effectLst/>
                <a:latin typeface="Studio-Feixen-Sans"/>
              </a:rPr>
              <a:t>correlation coefficient scores</a:t>
            </a:r>
            <a:r>
              <a:rPr lang="en-GB" b="0" i="0" dirty="0">
                <a:solidFill>
                  <a:srgbClr val="05192D"/>
                </a:solidFill>
                <a:effectLst/>
                <a:latin typeface="Studio-Feixen-Sans"/>
              </a:rPr>
              <a:t>.</a:t>
            </a:r>
            <a:endParaRPr lang="en-US" dirty="0"/>
          </a:p>
        </p:txBody>
      </p:sp>
      <p:pic>
        <p:nvPicPr>
          <p:cNvPr id="1026" name="Picture 2" descr="filter-based feature selection methods">
            <a:extLst>
              <a:ext uri="{FF2B5EF4-FFF2-40B4-BE49-F238E27FC236}">
                <a16:creationId xmlns:a16="http://schemas.microsoft.com/office/drawing/2014/main" id="{8F228AB0-9919-3E82-877B-674F2A2304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800" y="733425"/>
            <a:ext cx="11836400" cy="116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82578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8E57D-6CD2-CAE1-8AB3-1E1CFC993D48}"/>
              </a:ext>
            </a:extLst>
          </p:cNvPr>
          <p:cNvSpPr>
            <a:spLocks noGrp="1"/>
          </p:cNvSpPr>
          <p:nvPr>
            <p:ph type="title"/>
          </p:nvPr>
        </p:nvSpPr>
        <p:spPr>
          <a:xfrm>
            <a:off x="838200" y="57621"/>
            <a:ext cx="10515600" cy="623416"/>
          </a:xfrm>
        </p:spPr>
        <p:txBody>
          <a:bodyPr>
            <a:normAutofit fontScale="90000"/>
          </a:bodyPr>
          <a:lstStyle/>
          <a:p>
            <a:r>
              <a:rPr lang="en-GB" b="1" i="0" dirty="0">
                <a:solidFill>
                  <a:srgbClr val="05192D"/>
                </a:solidFill>
                <a:effectLst/>
                <a:latin typeface="Studio-Feixen-Sans"/>
              </a:rPr>
              <a:t>Wrapper Methods</a:t>
            </a:r>
            <a:endParaRPr lang="en-US" dirty="0"/>
          </a:p>
        </p:txBody>
      </p:sp>
      <p:sp>
        <p:nvSpPr>
          <p:cNvPr id="3" name="Content Placeholder 2">
            <a:extLst>
              <a:ext uri="{FF2B5EF4-FFF2-40B4-BE49-F238E27FC236}">
                <a16:creationId xmlns:a16="http://schemas.microsoft.com/office/drawing/2014/main" id="{BF131023-8815-84E1-3E47-A94E85348BCB}"/>
              </a:ext>
            </a:extLst>
          </p:cNvPr>
          <p:cNvSpPr>
            <a:spLocks noGrp="1"/>
          </p:cNvSpPr>
          <p:nvPr>
            <p:ph idx="1"/>
          </p:nvPr>
        </p:nvSpPr>
        <p:spPr>
          <a:xfrm>
            <a:off x="838200" y="2154238"/>
            <a:ext cx="10515600" cy="4351338"/>
          </a:xfrm>
        </p:spPr>
        <p:txBody>
          <a:bodyPr/>
          <a:lstStyle/>
          <a:p>
            <a:r>
              <a:rPr lang="en-GB" dirty="0">
                <a:solidFill>
                  <a:srgbClr val="05192D"/>
                </a:solidFill>
                <a:latin typeface="Studio-Feixen-Sans"/>
              </a:rPr>
              <a:t>A</a:t>
            </a:r>
            <a:r>
              <a:rPr lang="en-GB" b="0" i="0" dirty="0">
                <a:solidFill>
                  <a:srgbClr val="05192D"/>
                </a:solidFill>
                <a:effectLst/>
                <a:latin typeface="Studio-Feixen-Sans"/>
              </a:rPr>
              <a:t> wrapper method needs one machine learning algorithm and uses its performance as evaluation criteria. </a:t>
            </a:r>
          </a:p>
          <a:p>
            <a:r>
              <a:rPr lang="en-GB" b="0" i="0" dirty="0">
                <a:solidFill>
                  <a:srgbClr val="05192D"/>
                </a:solidFill>
                <a:effectLst/>
                <a:latin typeface="Studio-Feixen-Sans"/>
              </a:rPr>
              <a:t>This method searches for a feature which is best-suited for the machine learning algorithm and aims to improve the mining performance. </a:t>
            </a:r>
          </a:p>
          <a:p>
            <a:r>
              <a:rPr lang="en-GB" b="0" i="0" dirty="0">
                <a:solidFill>
                  <a:srgbClr val="05192D"/>
                </a:solidFill>
                <a:effectLst/>
                <a:latin typeface="Studio-Feixen-Sans"/>
              </a:rPr>
              <a:t>Some typical examples of wrapper methods are forward feature selection, backward feature elimination, recursive feature elimination, etc.</a:t>
            </a:r>
            <a:endParaRPr lang="en-US" dirty="0"/>
          </a:p>
        </p:txBody>
      </p:sp>
      <p:pic>
        <p:nvPicPr>
          <p:cNvPr id="2050" name="Picture 2" descr="understand wrapper methods">
            <a:extLst>
              <a:ext uri="{FF2B5EF4-FFF2-40B4-BE49-F238E27FC236}">
                <a16:creationId xmlns:a16="http://schemas.microsoft.com/office/drawing/2014/main" id="{CCBF68CD-03EB-8FA1-A657-FFAA40C55C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7312" y="544332"/>
            <a:ext cx="9186863" cy="16099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17796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2332C-81CC-9DB6-B6CE-04D19129A939}"/>
              </a:ext>
            </a:extLst>
          </p:cNvPr>
          <p:cNvSpPr>
            <a:spLocks noGrp="1"/>
          </p:cNvSpPr>
          <p:nvPr>
            <p:ph type="title"/>
          </p:nvPr>
        </p:nvSpPr>
        <p:spPr/>
        <p:txBody>
          <a:bodyPr>
            <a:normAutofit/>
          </a:bodyPr>
          <a:lstStyle/>
          <a:p>
            <a:r>
              <a:rPr lang="en-GB" b="0" i="0" dirty="0">
                <a:solidFill>
                  <a:srgbClr val="222832"/>
                </a:solidFill>
                <a:effectLst/>
                <a:latin typeface="-apple-system"/>
              </a:rPr>
              <a:t>Univariate feature selection</a:t>
            </a:r>
            <a:endParaRPr lang="en-US" dirty="0"/>
          </a:p>
        </p:txBody>
      </p:sp>
      <p:sp>
        <p:nvSpPr>
          <p:cNvPr id="3" name="Content Placeholder 2">
            <a:extLst>
              <a:ext uri="{FF2B5EF4-FFF2-40B4-BE49-F238E27FC236}">
                <a16:creationId xmlns:a16="http://schemas.microsoft.com/office/drawing/2014/main" id="{2D84D0F4-FABA-0A8C-6AE2-C0B42BA85049}"/>
              </a:ext>
            </a:extLst>
          </p:cNvPr>
          <p:cNvSpPr>
            <a:spLocks noGrp="1"/>
          </p:cNvSpPr>
          <p:nvPr>
            <p:ph idx="1"/>
          </p:nvPr>
        </p:nvSpPr>
        <p:spPr/>
        <p:txBody>
          <a:bodyPr>
            <a:normAutofit/>
          </a:bodyPr>
          <a:lstStyle/>
          <a:p>
            <a:r>
              <a:rPr lang="en-GB" b="0" i="0" dirty="0">
                <a:solidFill>
                  <a:srgbClr val="222832"/>
                </a:solidFill>
                <a:effectLst/>
                <a:latin typeface="-apple-system"/>
              </a:rPr>
              <a:t>Univariate feature selection works by selecting the best features based on univariate statistical tests. It can be seen as a </a:t>
            </a:r>
            <a:r>
              <a:rPr lang="en-GB" b="0" i="0" dirty="0" err="1">
                <a:solidFill>
                  <a:srgbClr val="222832"/>
                </a:solidFill>
                <a:effectLst/>
                <a:latin typeface="-apple-system"/>
              </a:rPr>
              <a:t>preprocessing</a:t>
            </a:r>
            <a:r>
              <a:rPr lang="en-GB" b="0" i="0" dirty="0">
                <a:solidFill>
                  <a:srgbClr val="222832"/>
                </a:solidFill>
                <a:effectLst/>
                <a:latin typeface="-apple-system"/>
              </a:rPr>
              <a:t> step to an estimator. </a:t>
            </a:r>
          </a:p>
          <a:p>
            <a:pPr algn="l">
              <a:buFont typeface="Arial" panose="020B0604020202020204" pitchFamily="34" charset="0"/>
              <a:buChar char="•"/>
            </a:pPr>
            <a:r>
              <a:rPr lang="en-GB" b="0" i="0" dirty="0">
                <a:solidFill>
                  <a:srgbClr val="222832"/>
                </a:solidFill>
                <a:effectLst/>
                <a:latin typeface="-apple-system"/>
              </a:rPr>
              <a:t>SelectKBest removes all but the k highest scoring features</a:t>
            </a:r>
          </a:p>
          <a:p>
            <a:pPr algn="l">
              <a:buFont typeface="Arial" panose="020B0604020202020204" pitchFamily="34" charset="0"/>
              <a:buChar char="•"/>
            </a:pPr>
            <a:r>
              <a:rPr lang="en-GB" b="0" i="0" dirty="0">
                <a:solidFill>
                  <a:srgbClr val="222832"/>
                </a:solidFill>
                <a:effectLst/>
                <a:latin typeface="-apple-system"/>
              </a:rPr>
              <a:t>SelectPercentile removes all but a user-specified highest scoring percentage of features</a:t>
            </a:r>
          </a:p>
        </p:txBody>
      </p:sp>
    </p:spTree>
    <p:extLst>
      <p:ext uri="{BB962C8B-B14F-4D97-AF65-F5344CB8AC3E}">
        <p14:creationId xmlns:p14="http://schemas.microsoft.com/office/powerpoint/2010/main" val="10937547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97F9C-D6F6-A673-9A47-A5E9EFBDD4DC}"/>
              </a:ext>
            </a:extLst>
          </p:cNvPr>
          <p:cNvSpPr>
            <a:spLocks noGrp="1"/>
          </p:cNvSpPr>
          <p:nvPr>
            <p:ph type="title"/>
          </p:nvPr>
        </p:nvSpPr>
        <p:spPr/>
        <p:txBody>
          <a:bodyPr/>
          <a:lstStyle/>
          <a:p>
            <a:r>
              <a:rPr lang="en-GB" b="0" i="0" dirty="0">
                <a:solidFill>
                  <a:srgbClr val="222832"/>
                </a:solidFill>
                <a:effectLst/>
                <a:latin typeface="-apple-system"/>
              </a:rPr>
              <a:t>Univariate feature selection</a:t>
            </a:r>
            <a:endParaRPr lang="en-US" dirty="0"/>
          </a:p>
        </p:txBody>
      </p:sp>
      <p:sp>
        <p:nvSpPr>
          <p:cNvPr id="3" name="Content Placeholder 2">
            <a:extLst>
              <a:ext uri="{FF2B5EF4-FFF2-40B4-BE49-F238E27FC236}">
                <a16:creationId xmlns:a16="http://schemas.microsoft.com/office/drawing/2014/main" id="{FE2BED90-411C-0B16-5DBF-542F48A90A37}"/>
              </a:ext>
            </a:extLst>
          </p:cNvPr>
          <p:cNvSpPr>
            <a:spLocks noGrp="1"/>
          </p:cNvSpPr>
          <p:nvPr>
            <p:ph idx="1"/>
          </p:nvPr>
        </p:nvSpPr>
        <p:spPr/>
        <p:txBody>
          <a:bodyPr/>
          <a:lstStyle/>
          <a:p>
            <a:r>
              <a:rPr lang="en-GB" b="0" i="0" dirty="0">
                <a:solidFill>
                  <a:srgbClr val="222832"/>
                </a:solidFill>
                <a:effectLst/>
                <a:latin typeface="-apple-system"/>
              </a:rPr>
              <a:t>GenericUnivariateSelect allows to perform univariate feature selection with a configurable strategy. This allows to select the best univariate selection strategy with hyper-parameter search estimator.</a:t>
            </a:r>
          </a:p>
          <a:p>
            <a:pPr algn="l">
              <a:buFont typeface="Arial" panose="020B0604020202020204" pitchFamily="34" charset="0"/>
              <a:buChar char="•"/>
            </a:pPr>
            <a:r>
              <a:rPr lang="en-GB" b="0" i="0" dirty="0">
                <a:solidFill>
                  <a:srgbClr val="222832"/>
                </a:solidFill>
                <a:effectLst/>
                <a:latin typeface="-apple-system"/>
              </a:rPr>
              <a:t>using common univariate statistical tests for each feature: </a:t>
            </a:r>
          </a:p>
          <a:p>
            <a:pPr lvl="1"/>
            <a:r>
              <a:rPr lang="en-GB" b="0" i="0" dirty="0">
                <a:solidFill>
                  <a:srgbClr val="222832"/>
                </a:solidFill>
                <a:effectLst/>
                <a:latin typeface="-apple-system"/>
              </a:rPr>
              <a:t>false positive rate SelectFpr, </a:t>
            </a:r>
          </a:p>
          <a:p>
            <a:pPr lvl="1"/>
            <a:r>
              <a:rPr lang="en-GB" b="0" i="0" dirty="0">
                <a:solidFill>
                  <a:srgbClr val="222832"/>
                </a:solidFill>
                <a:effectLst/>
                <a:latin typeface="-apple-system"/>
              </a:rPr>
              <a:t>false discovery rate SelectFdr, or </a:t>
            </a:r>
          </a:p>
          <a:p>
            <a:pPr lvl="1"/>
            <a:r>
              <a:rPr lang="en-GB" b="0" i="0" dirty="0">
                <a:solidFill>
                  <a:srgbClr val="222832"/>
                </a:solidFill>
                <a:effectLst/>
                <a:latin typeface="-apple-system"/>
              </a:rPr>
              <a:t>family wise error SelectFwe.</a:t>
            </a:r>
          </a:p>
          <a:p>
            <a:endParaRPr lang="en-GB" b="0" i="0" dirty="0">
              <a:solidFill>
                <a:srgbClr val="222832"/>
              </a:solidFill>
              <a:effectLst/>
              <a:latin typeface="-apple-system"/>
            </a:endParaRPr>
          </a:p>
          <a:p>
            <a:endParaRPr lang="en-US" dirty="0"/>
          </a:p>
        </p:txBody>
      </p:sp>
    </p:spTree>
    <p:extLst>
      <p:ext uri="{BB962C8B-B14F-4D97-AF65-F5344CB8AC3E}">
        <p14:creationId xmlns:p14="http://schemas.microsoft.com/office/powerpoint/2010/main" val="6866899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116</TotalTime>
  <Words>509</Words>
  <Application>Microsoft Macintosh PowerPoint</Application>
  <PresentationFormat>Widescreen</PresentationFormat>
  <Paragraphs>38</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-apple-system</vt:lpstr>
      <vt:lpstr>Arial</vt:lpstr>
      <vt:lpstr>Calibri</vt:lpstr>
      <vt:lpstr>Calibri Light</vt:lpstr>
      <vt:lpstr>Studio-Feixen-Sans</vt:lpstr>
      <vt:lpstr>Office Theme</vt:lpstr>
      <vt:lpstr>Feature Selection</vt:lpstr>
      <vt:lpstr>Understanding the Importance of Feature Selection</vt:lpstr>
      <vt:lpstr>Definition</vt:lpstr>
      <vt:lpstr>Dimensionality reduction</vt:lpstr>
      <vt:lpstr>Filter methods</vt:lpstr>
      <vt:lpstr>Wrapper Methods</vt:lpstr>
      <vt:lpstr>Univariate feature selection</vt:lpstr>
      <vt:lpstr>Univariate feature selection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Feature Selection</dc:title>
  <dc:creator>Hassan Tariq</dc:creator>
  <cp:lastModifiedBy>Hassan Tariq</cp:lastModifiedBy>
  <cp:revision>3</cp:revision>
  <dcterms:created xsi:type="dcterms:W3CDTF">2025-04-11T07:40:33Z</dcterms:created>
  <dcterms:modified xsi:type="dcterms:W3CDTF">2025-04-22T17:19:35Z</dcterms:modified>
</cp:coreProperties>
</file>